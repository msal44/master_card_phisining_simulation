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6"/>
  </p:notesMasterIdLst>
  <p:sldIdLst>
    <p:sldId id="256" r:id="rId2"/>
    <p:sldId id="257" r:id="rId3"/>
    <p:sldId id="258" r:id="rId4"/>
    <p:sldId id="259" r:id="rId5"/>
  </p:sldIdLst>
  <p:sldSz cx="9144000" cy="5143500" type="screen16x9"/>
  <p:notesSz cx="6858000" cy="9144000"/>
  <p:embeddedFontLst>
    <p:embeddedFont>
      <p:font typeface="Lato" panose="020F0502020204030203" pitchFamily="34" charset="0"/>
      <p:regular r:id="rId7"/>
      <p:bold r:id="rId8"/>
      <p:italic r:id="rId9"/>
      <p:boldItalic r:id="rId10"/>
    </p:embeddedFont>
    <p:embeddedFont>
      <p:font typeface="Raleway" panose="020B0604020202020204" pitchFamily="2"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108" y="109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1231f45f93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1231f45f93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1231f45f93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11231f45f93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1231f45f93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11231f45f93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3750" y="1322450"/>
            <a:ext cx="80322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933" dirty="0"/>
              <a:t>Familiarize yourself with phishing attacks</a:t>
            </a:r>
          </a:p>
          <a:p>
            <a:pPr lvl="0" algn="l" rtl="0">
              <a:spcBef>
                <a:spcPts val="0"/>
              </a:spcBef>
              <a:spcAft>
                <a:spcPts val="0"/>
              </a:spcAft>
            </a:pPr>
            <a:r>
              <a:rPr lang="en-US" sz="1600" b="0" dirty="0">
                <a:latin typeface="Times New Roman" panose="02020603050405020304" pitchFamily="18" charset="0"/>
                <a:cs typeface="Times New Roman" panose="02020603050405020304" pitchFamily="18" charset="0"/>
              </a:rPr>
              <a:t>All teams opened the email. The three teams that have the highest email click through rate are HR, Card Services, and Marketing. Phishing success rate for HR was 75%, Marketing 38%, and Card Services 10%. I would focus on these three teams.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is phishing?</a:t>
            </a:r>
            <a:endParaRPr/>
          </a:p>
        </p:txBody>
      </p:sp>
      <p:sp>
        <p:nvSpPr>
          <p:cNvPr id="92" name="Google Shape;92;p1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US" dirty="0">
                <a:latin typeface="Times New Roman" panose="02020603050405020304" pitchFamily="18" charset="0"/>
                <a:cs typeface="Times New Roman" panose="02020603050405020304" pitchFamily="18" charset="0"/>
              </a:rPr>
              <a:t>Phishing is a cybercrime in which a target or targets are contacted by email, telephone or text message by someone posing as a legitimate institution to lure individuals into providing sensitive data. </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algn="l">
              <a:buFont typeface="+mj-lt"/>
              <a:buAutoNum type="arabicPeriod"/>
            </a:pPr>
            <a:r>
              <a:rPr lang="en-US" b="0" i="0" dirty="0">
                <a:solidFill>
                  <a:srgbClr val="000000"/>
                </a:solidFill>
                <a:effectLst/>
                <a:latin typeface="Times New Roman" panose="02020603050405020304" pitchFamily="18" charset="0"/>
                <a:cs typeface="Times New Roman" panose="02020603050405020304" pitchFamily="18" charset="0"/>
              </a:rPr>
              <a:t>Suspicious looking source email address</a:t>
            </a:r>
          </a:p>
          <a:p>
            <a:pPr algn="l">
              <a:buFont typeface="+mj-lt"/>
              <a:buAutoNum type="arabicPeriod"/>
            </a:pPr>
            <a:r>
              <a:rPr lang="en-US" b="0" i="0" dirty="0">
                <a:solidFill>
                  <a:srgbClr val="000000"/>
                </a:solidFill>
                <a:effectLst/>
                <a:latin typeface="Times New Roman" panose="02020603050405020304" pitchFamily="18" charset="0"/>
                <a:cs typeface="Times New Roman" panose="02020603050405020304" pitchFamily="18" charset="0"/>
              </a:rPr>
              <a:t>Generic greeting like “Dear customer” – instead of the customization most organizations offer</a:t>
            </a:r>
          </a:p>
          <a:p>
            <a:pPr algn="l">
              <a:buFont typeface="+mj-lt"/>
              <a:buAutoNum type="arabicPeriod"/>
            </a:pPr>
            <a:r>
              <a:rPr lang="en-US" b="0" i="0" dirty="0">
                <a:solidFill>
                  <a:srgbClr val="000000"/>
                </a:solidFill>
                <a:effectLst/>
                <a:latin typeface="Times New Roman" panose="02020603050405020304" pitchFamily="18" charset="0"/>
                <a:cs typeface="Times New Roman" panose="02020603050405020304" pitchFamily="18" charset="0"/>
              </a:rPr>
              <a:t>Spoofed hyperlinks – if you can hover your mouse over the link, the destination displayed in the preview might be completely different than the destination displayed in the message</a:t>
            </a:r>
          </a:p>
          <a:p>
            <a:pPr algn="l">
              <a:buFont typeface="+mj-lt"/>
              <a:buAutoNum type="arabicPeriod"/>
            </a:pPr>
            <a:r>
              <a:rPr lang="en-US" b="0" i="0" dirty="0">
                <a:solidFill>
                  <a:srgbClr val="000000"/>
                </a:solidFill>
                <a:effectLst/>
                <a:latin typeface="Times New Roman" panose="02020603050405020304" pitchFamily="18" charset="0"/>
                <a:cs typeface="Times New Roman" panose="02020603050405020304" pitchFamily="18" charset="0"/>
              </a:rPr>
              <a:t>Poor spelling, or sloppy layout</a:t>
            </a:r>
          </a:p>
          <a:p>
            <a:pPr algn="l">
              <a:buFont typeface="+mj-lt"/>
              <a:buAutoNum type="arabicPeriod"/>
            </a:pPr>
            <a:r>
              <a:rPr lang="en-US" b="0" i="0" dirty="0">
                <a:solidFill>
                  <a:srgbClr val="000000"/>
                </a:solidFill>
                <a:effectLst/>
                <a:latin typeface="Times New Roman" panose="02020603050405020304" pitchFamily="18" charset="0"/>
                <a:cs typeface="Times New Roman" panose="02020603050405020304" pitchFamily="18" charset="0"/>
              </a:rPr>
              <a:t>Suspicious or unusual attachments – treat all attachments and links with caution</a:t>
            </a:r>
          </a:p>
          <a:p>
            <a:pPr marL="0" lvl="0" indent="0" algn="l" rtl="0">
              <a:spcBef>
                <a:spcPts val="0"/>
              </a:spcBef>
              <a:spcAft>
                <a:spcPts val="1200"/>
              </a:spcAft>
              <a:buNone/>
            </a:pPr>
            <a:endParaRPr dirty="0">
              <a:highlight>
                <a:srgbClr val="FFFF00"/>
              </a:highlight>
            </a:endParaRPr>
          </a:p>
        </p:txBody>
      </p:sp>
      <p:sp>
        <p:nvSpPr>
          <p:cNvPr id="98" name="Google Shape;98;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Learn to spot phishing emails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do we stop getting phished?</a:t>
            </a:r>
            <a:endParaRPr/>
          </a:p>
        </p:txBody>
      </p:sp>
      <p:sp>
        <p:nvSpPr>
          <p:cNvPr id="104" name="Google Shape;104;p1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algn="l">
              <a:buFont typeface="+mj-lt"/>
              <a:buAutoNum type="arabicPeriod"/>
            </a:pPr>
            <a:r>
              <a:rPr lang="en-US" b="0" i="0" dirty="0">
                <a:solidFill>
                  <a:srgbClr val="000000"/>
                </a:solidFill>
                <a:effectLst/>
                <a:latin typeface="Times New Roman" panose="02020603050405020304" pitchFamily="18" charset="0"/>
                <a:cs typeface="Times New Roman" panose="02020603050405020304" pitchFamily="18" charset="0"/>
              </a:rPr>
              <a:t>Always be suspicious of any message that requests you to click a link or open an attachment.</a:t>
            </a:r>
          </a:p>
          <a:p>
            <a:pPr algn="l">
              <a:buFont typeface="+mj-lt"/>
              <a:buAutoNum type="arabicPeriod"/>
            </a:pPr>
            <a:r>
              <a:rPr lang="en-US" b="0" i="0" dirty="0">
                <a:solidFill>
                  <a:srgbClr val="000000"/>
                </a:solidFill>
                <a:effectLst/>
                <a:latin typeface="Times New Roman" panose="02020603050405020304" pitchFamily="18" charset="0"/>
                <a:cs typeface="Times New Roman" panose="02020603050405020304" pitchFamily="18" charset="0"/>
              </a:rPr>
              <a:t>Be cautious of any message communicating a sense of urgency or dire consequences should you fail to take immediate action.</a:t>
            </a:r>
          </a:p>
          <a:p>
            <a:pPr algn="l">
              <a:buFont typeface="+mj-lt"/>
              <a:buAutoNum type="arabicPeriod"/>
            </a:pPr>
            <a:r>
              <a:rPr lang="en-US" b="0" i="0" dirty="0">
                <a:solidFill>
                  <a:srgbClr val="000000"/>
                </a:solidFill>
                <a:effectLst/>
                <a:latin typeface="Times New Roman" panose="02020603050405020304" pitchFamily="18" charset="0"/>
                <a:cs typeface="Times New Roman" panose="02020603050405020304" pitchFamily="18" charset="0"/>
              </a:rPr>
              <a:t>If you are concerned about a message, contact the person or the organization using a different, validated method like a phone number you already had or check the organization’s website ‘Contact Us’ information. Never use the links or contact information in the message you are concerned about.</a:t>
            </a:r>
          </a:p>
          <a:p>
            <a:pPr algn="l">
              <a:buFont typeface="+mj-lt"/>
              <a:buAutoNum type="arabicPeriod"/>
            </a:pPr>
            <a:r>
              <a:rPr lang="en-US" b="0" i="0" dirty="0">
                <a:solidFill>
                  <a:srgbClr val="000000"/>
                </a:solidFill>
                <a:effectLst/>
                <a:latin typeface="Times New Roman" panose="02020603050405020304" pitchFamily="18" charset="0"/>
                <a:cs typeface="Times New Roman" panose="02020603050405020304" pitchFamily="18" charset="0"/>
              </a:rPr>
              <a:t>Be careful not to provide personal or sensitive information in response to a message.</a:t>
            </a:r>
          </a:p>
          <a:p>
            <a:pPr marL="0" lvl="0" indent="0" algn="l" rtl="0">
              <a:spcBef>
                <a:spcPts val="0"/>
              </a:spcBef>
              <a:spcAft>
                <a:spcPts val="1200"/>
              </a:spcAft>
              <a:buNone/>
            </a:pPr>
            <a:endParaRPr dirty="0">
              <a:highlight>
                <a:srgbClr val="FFFF00"/>
              </a:highlight>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280</Words>
  <Application>Microsoft Office PowerPoint</Application>
  <PresentationFormat>On-screen Show (16:9)</PresentationFormat>
  <Paragraphs>15</Paragraphs>
  <Slides>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Lato</vt:lpstr>
      <vt:lpstr>Times New Roman</vt:lpstr>
      <vt:lpstr>Raleway</vt:lpstr>
      <vt:lpstr>Streamline</vt:lpstr>
      <vt:lpstr>Familiarize yourself with phishing attacks All teams opened the email. The three teams that have the highest email click through rate are HR, Card Services, and Marketing. Phishing success rate for HR was 75%, Marketing 38%, and Card Services 10%. I would focus on these three teams.</vt:lpstr>
      <vt:lpstr>What is phishing?</vt:lpstr>
      <vt:lpstr>Learn to spot phishing emails</vt:lpstr>
      <vt:lpstr>How do we stop getting phished?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Familiarize yourself with phishing attacks All teams opened the email. The three teams that have the highest email click through rate are HR, Card Services, and Marketing. Phishing success rate for HR was 75%, Marketing 38%, and Card Services 10%. I would focus on these three teams.</dc:title>
  <cp:lastModifiedBy>Melvyn Salvatierra</cp:lastModifiedBy>
  <cp:revision>2</cp:revision>
  <dcterms:modified xsi:type="dcterms:W3CDTF">2022-08-15T22:49:37Z</dcterms:modified>
</cp:coreProperties>
</file>